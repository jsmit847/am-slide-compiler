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5" r:id="rId4"/>
    <p:sldMasterId id="2147483743" r:id="rId5"/>
    <p:sldMasterId id="2147483699" r:id="rId6"/>
    <p:sldMasterId id="2147483726" r:id="rId7"/>
  </p:sldMasterIdLst>
  <p:notesMasterIdLst>
    <p:notesMasterId r:id="rId9"/>
  </p:notesMasterIdLst>
  <p:handoutMasterIdLst>
    <p:handoutMasterId r:id="rId10"/>
  </p:handoutMasterIdLst>
  <p:sldIdLst>
    <p:sldId id="286" r:id="rId8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ridge Slide" id="{AFD36A00-BE86-1044-8E19-BCF8E28F8BF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ooke Carillo" initials="BC" lastIdx="1" clrIdx="0">
    <p:extLst>
      <p:ext uri="{19B8F6BF-5375-455C-9EA6-DF929625EA0E}">
        <p15:presenceInfo xmlns:p15="http://schemas.microsoft.com/office/powerpoint/2012/main" userId="S::Brooke.Carillo@redwoodtrust.com::bb7a3d99-1a39-43cd-92c6-1e2a9e924c68" providerId="AD"/>
      </p:ext>
    </p:extLst>
  </p:cmAuthor>
  <p:cmAuthor id="2" name="Evelyn Infurna" initials="EI" lastIdx="1" clrIdx="1">
    <p:extLst>
      <p:ext uri="{19B8F6BF-5375-455C-9EA6-DF929625EA0E}">
        <p15:presenceInfo xmlns:p15="http://schemas.microsoft.com/office/powerpoint/2012/main" userId="Evelyn Infurna" providerId="None"/>
      </p:ext>
    </p:extLst>
  </p:cmAuthor>
  <p:cmAuthor id="3" name="Collin Cochrane" initials="CC" lastIdx="11" clrIdx="2">
    <p:extLst>
      <p:ext uri="{19B8F6BF-5375-455C-9EA6-DF929625EA0E}">
        <p15:presenceInfo xmlns:p15="http://schemas.microsoft.com/office/powerpoint/2012/main" userId="S::ccochrane@redwoodtrust.com::ef07e908-2939-4643-af50-1ecc26c0662e" providerId="AD"/>
      </p:ext>
    </p:extLst>
  </p:cmAuthor>
  <p:cmAuthor id="4" name="Lisa Hartman" initials="LH" lastIdx="14" clrIdx="3">
    <p:extLst>
      <p:ext uri="{19B8F6BF-5375-455C-9EA6-DF929625EA0E}">
        <p15:presenceInfo xmlns:p15="http://schemas.microsoft.com/office/powerpoint/2012/main" userId="S::lhartman@redwoodtrust.com::57198752-ad31-4e46-b951-d50bfbe2087e" providerId="AD"/>
      </p:ext>
    </p:extLst>
  </p:cmAuthor>
  <p:cmAuthor id="5" name="Kaitlyn Mauritz" initials="KM" lastIdx="1" clrIdx="4">
    <p:extLst>
      <p:ext uri="{19B8F6BF-5375-455C-9EA6-DF929625EA0E}">
        <p15:presenceInfo xmlns:p15="http://schemas.microsoft.com/office/powerpoint/2012/main" userId="S::Kaitlyn.Mauritz@redwoodtrust.com::601c1109-a2ee-4708-ac3f-d7f8a88224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CE5"/>
    <a:srgbClr val="AAB68C"/>
    <a:srgbClr val="E2C79F"/>
    <a:srgbClr val="E2C794"/>
    <a:srgbClr val="FFF8EF"/>
    <a:srgbClr val="979E9B"/>
    <a:srgbClr val="000000"/>
    <a:srgbClr val="FFFFFF"/>
    <a:srgbClr val="231E20"/>
    <a:srgbClr val="504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049BF-0009-4395-8141-B15A4B3C93CC}" v="1" dt="2026-09-01T15:01:25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17" autoAdjust="0"/>
    <p:restoredTop sz="92626"/>
  </p:normalViewPr>
  <p:slideViewPr>
    <p:cSldViewPr snapToGrid="0">
      <p:cViewPr varScale="1">
        <p:scale>
          <a:sx n="68" d="100"/>
          <a:sy n="68" d="100"/>
        </p:scale>
        <p:origin x="1116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0" d="100"/>
          <a:sy n="160" d="100"/>
        </p:scale>
        <p:origin x="550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Smith" userId="3486068a-fd34-49a1-8783-6bfecac48ff8" providerId="ADAL" clId="{020290F0-10F0-4EDE-94D5-A963052CAF35}"/>
    <pc:docChg chg="undo custSel modSld">
      <pc:chgData name="Jonathan Smith" userId="3486068a-fd34-49a1-8783-6bfecac48ff8" providerId="ADAL" clId="{020290F0-10F0-4EDE-94D5-A963052CAF35}" dt="2026-09-01T15:02:52.031" v="22" actId="255"/>
      <pc:docMkLst>
        <pc:docMk/>
      </pc:docMkLst>
      <pc:sldChg chg="addSp delSp modSp mod">
        <pc:chgData name="Jonathan Smith" userId="3486068a-fd34-49a1-8783-6bfecac48ff8" providerId="ADAL" clId="{020290F0-10F0-4EDE-94D5-A963052CAF35}" dt="2026-09-01T15:02:52.031" v="22" actId="255"/>
        <pc:sldMkLst>
          <pc:docMk/>
          <pc:sldMk cId="1346633879" sldId="286"/>
        </pc:sldMkLst>
        <pc:spChg chg="mod">
          <ac:chgData name="Jonathan Smith" userId="3486068a-fd34-49a1-8783-6bfecac48ff8" providerId="ADAL" clId="{020290F0-10F0-4EDE-94D5-A963052CAF35}" dt="2026-09-01T15:02:07.299" v="21" actId="1076"/>
          <ac:spMkLst>
            <pc:docMk/>
            <pc:sldMk cId="1346633879" sldId="286"/>
            <ac:spMk id="4" creationId="{088718B3-4FAD-B30A-1CE9-1C18F35B79F8}"/>
          </ac:spMkLst>
        </pc:spChg>
        <pc:graphicFrameChg chg="add mod modGraphic">
          <ac:chgData name="Jonathan Smith" userId="3486068a-fd34-49a1-8783-6bfecac48ff8" providerId="ADAL" clId="{020290F0-10F0-4EDE-94D5-A963052CAF35}" dt="2026-09-01T15:02:52.031" v="22" actId="255"/>
          <ac:graphicFrameMkLst>
            <pc:docMk/>
            <pc:sldMk cId="1346633879" sldId="286"/>
            <ac:graphicFrameMk id="2" creationId="{34FE3DBD-DBF0-1839-A96A-FE3F75187F64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3DAFF-5AB8-4239-967D-CF61055D4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4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C30D8-3C0C-4DFB-9BBC-0A6943B2BE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42" y="4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/>
          <a:lstStyle>
            <a:lvl1pPr algn="r">
              <a:defRPr sz="1200"/>
            </a:lvl1pPr>
          </a:lstStyle>
          <a:p>
            <a:fld id="{17143603-A8CF-46B7-B718-05625E75CBD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88CFB-CC92-4572-AD8D-16FDEE8A20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8829679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1D8C5-17D9-4B3B-9E3F-5B0626957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42" y="8829679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 anchor="b"/>
          <a:lstStyle>
            <a:lvl1pPr algn="r">
              <a:defRPr sz="1200"/>
            </a:lvl1pPr>
          </a:lstStyle>
          <a:p>
            <a:fld id="{AAB5F7D1-91AC-47CF-9F22-14075F552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729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22" tIns="46562" rIns="93122" bIns="465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22" tIns="46562" rIns="93122" bIns="46562" rtlCol="0"/>
          <a:lstStyle>
            <a:lvl1pPr algn="r">
              <a:defRPr sz="1200"/>
            </a:lvl1pPr>
          </a:lstStyle>
          <a:p>
            <a:fld id="{77B7DBC3-BC4C-4446-A0BC-4727240A664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22" tIns="46562" rIns="93122" bIns="465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22" tIns="46562" rIns="93122" bIns="465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71"/>
            <a:ext cx="3037840" cy="466433"/>
          </a:xfrm>
          <a:prstGeom prst="rect">
            <a:avLst/>
          </a:prstGeom>
        </p:spPr>
        <p:txBody>
          <a:bodyPr vert="horz" lIns="93122" tIns="46562" rIns="93122" bIns="465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71"/>
            <a:ext cx="3037840" cy="466433"/>
          </a:xfrm>
          <a:prstGeom prst="rect">
            <a:avLst/>
          </a:prstGeom>
        </p:spPr>
        <p:txBody>
          <a:bodyPr vert="horz" lIns="93122" tIns="46562" rIns="93122" bIns="46562" rtlCol="0" anchor="b"/>
          <a:lstStyle>
            <a:lvl1pPr algn="r">
              <a:defRPr sz="1200"/>
            </a:lvl1pPr>
          </a:lstStyle>
          <a:p>
            <a:fld id="{3FD6FB7B-C1AD-D041-9375-68B5DA385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88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wood Trust Front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3161D-1256-7614-6B59-28D515E25402}"/>
              </a:ext>
            </a:extLst>
          </p:cNvPr>
          <p:cNvSpPr/>
          <p:nvPr userDrawn="1"/>
        </p:nvSpPr>
        <p:spPr>
          <a:xfrm>
            <a:off x="0" y="0"/>
            <a:ext cx="192314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10FE03C-05CD-E74E-BF9E-9725D0769B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6940" y="1610195"/>
            <a:ext cx="6614160" cy="52322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9525" indent="-9525" algn="l">
              <a:lnSpc>
                <a:spcPct val="100000"/>
              </a:lnSpc>
              <a:buNone/>
              <a:tabLst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D1BC027-E4DD-034E-BBBB-A2F4AEB54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6939" y="2419051"/>
            <a:ext cx="4430429" cy="304800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A613E-220B-BC96-71AE-881670EACCC9}"/>
              </a:ext>
            </a:extLst>
          </p:cNvPr>
          <p:cNvSpPr txBox="1"/>
          <p:nvPr userDrawn="1"/>
        </p:nvSpPr>
        <p:spPr>
          <a:xfrm>
            <a:off x="6735181" y="2494507"/>
            <a:ext cx="210802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spc="300" dirty="0"/>
              <a:t>COREVESTFINANCE.COM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954C9A1-D7C7-273C-0B2A-228C9DB0FC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50481" y="6218096"/>
            <a:ext cx="1798745" cy="413505"/>
          </a:xfrm>
          <a:prstGeom prst="rect">
            <a:avLst/>
          </a:prstGeom>
        </p:spPr>
      </p:pic>
      <p:pic>
        <p:nvPicPr>
          <p:cNvPr id="11" name="Picture 10" descr="Aerial view of a neighborhood with many houses and trees&#10;&#10;Description automatically generated">
            <a:extLst>
              <a:ext uri="{FF2B5EF4-FFF2-40B4-BE49-F238E27FC236}">
                <a16:creationId xmlns:a16="http://schemas.microsoft.com/office/drawing/2014/main" id="{5A80AD60-4D89-4923-210A-19E0C94D93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t="4615" r="1" b="25684"/>
          <a:stretch/>
        </p:blipFill>
        <p:spPr>
          <a:xfrm>
            <a:off x="1277257" y="2922815"/>
            <a:ext cx="7866743" cy="308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5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wood Trust End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3161D-1256-7614-6B59-28D515E25402}"/>
              </a:ext>
            </a:extLst>
          </p:cNvPr>
          <p:cNvSpPr/>
          <p:nvPr userDrawn="1"/>
        </p:nvSpPr>
        <p:spPr>
          <a:xfrm>
            <a:off x="0" y="5935436"/>
            <a:ext cx="9144000" cy="9225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04658-2AEB-5620-8AEB-5ED0630D03C0}"/>
              </a:ext>
            </a:extLst>
          </p:cNvPr>
          <p:cNvSpPr txBox="1"/>
          <p:nvPr userDrawn="1"/>
        </p:nvSpPr>
        <p:spPr>
          <a:xfrm>
            <a:off x="3036568" y="5339041"/>
            <a:ext cx="3070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300" dirty="0"/>
              <a:t>COREVESTFINANCE.COM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38B44D8-C53F-3CF7-987F-6F0F338F0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1425" y="2905492"/>
            <a:ext cx="1980824" cy="4553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C2F24E-0E19-B0ED-F8B1-72E9A6500F23}"/>
              </a:ext>
            </a:extLst>
          </p:cNvPr>
          <p:cNvSpPr txBox="1"/>
          <p:nvPr userDrawn="1"/>
        </p:nvSpPr>
        <p:spPr>
          <a:xfrm>
            <a:off x="2869612" y="4640037"/>
            <a:ext cx="3404772" cy="612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</a:rPr>
              <a:t>844-223-7496</a:t>
            </a:r>
          </a:p>
          <a:p>
            <a:pPr algn="ctr">
              <a:lnSpc>
                <a:spcPct val="150000"/>
              </a:lnSpc>
            </a:pPr>
            <a:r>
              <a:rPr lang="en-US" sz="1200" dirty="0" err="1">
                <a:solidFill>
                  <a:schemeClr val="tx1"/>
                </a:solidFill>
              </a:rPr>
              <a:t>info@cvest.com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707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43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om with chairs and a table&#10;&#10;Description automatically generated">
            <a:extLst>
              <a:ext uri="{FF2B5EF4-FFF2-40B4-BE49-F238E27FC236}">
                <a16:creationId xmlns:a16="http://schemas.microsoft.com/office/drawing/2014/main" id="{699831EB-16F8-C89D-AB67-2D9F4EEBFB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244" r="58773"/>
          <a:stretch/>
        </p:blipFill>
        <p:spPr>
          <a:xfrm>
            <a:off x="6400800" y="0"/>
            <a:ext cx="27431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529834"/>
            <a:ext cx="5715000" cy="369332"/>
          </a:xfrm>
        </p:spPr>
        <p:txBody>
          <a:bodyPr anchor="ctr" anchorCtr="0"/>
          <a:lstStyle/>
          <a:p>
            <a:r>
              <a:rPr lang="en-US" dirty="0"/>
              <a:t>Table of Contents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322CC90-EBBB-F0C4-C321-172E4E52104C}"/>
              </a:ext>
            </a:extLst>
          </p:cNvPr>
          <p:cNvSpPr/>
          <p:nvPr userDrawn="1"/>
        </p:nvSpPr>
        <p:spPr>
          <a:xfrm rot="5400000">
            <a:off x="-118298" y="1618523"/>
            <a:ext cx="428549" cy="19195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6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A1F4-17D1-5BAC-1FA1-55B1D989C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991701"/>
            <a:ext cx="8458200" cy="874597"/>
          </a:xfrm>
          <a:noFill/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7561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10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C93EC0A-38C8-966C-24B3-B29DC94B89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10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D447C-1E31-0C83-06F8-C10ED35AB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08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A341DCF-81D7-9D7E-9A14-142CCB95C3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9316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C71BCEBF-A2AA-40B1-4436-B560BC51420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3BF694E-084D-2F4A-0ECA-7B0327933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81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D068186-E804-EDE9-FABD-5F4AB5B751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181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F2EBF5E8-B0D8-84AF-2226-8498BF2B3B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B3EA7D9-1121-779E-A150-1172EB0567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2900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AC0DE5E-860C-ADD2-6373-ECD2930C3A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2900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BBA4031-B40B-5640-C93A-F31DC434A89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2FFAD1C-056A-FBE9-8353-5F2D8ED423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900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107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0200"/>
            <a:ext cx="8458200" cy="4571999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CCA5E-41B3-3854-B3A6-CDC66B1D7C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A53C26-5F71-A568-7A3A-BBED1D018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3C5C17CE-20FA-88E3-A6E9-888DA6A9B9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55D2A7C-8CBC-BC96-4388-03715BD2062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31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3758"/>
            <a:ext cx="407670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4398" y="1603758"/>
            <a:ext cx="407670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A6A1442-5A60-17B0-891B-BD708AF7AA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0B4F634D-0255-D4AD-3C71-84342EF3CB8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0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1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600201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342899" y="4021932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40E75CB8-C404-6021-2A7C-88FE225794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2D251DB-0434-7915-A8BC-085805AD70B5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26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, 2/3 and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3758"/>
            <a:ext cx="553212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5059" y="1603758"/>
            <a:ext cx="2606041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7B96BA0-7791-C288-C0CA-6A85AC94FB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97B26EA2-F5D8-9A5B-2ECA-77BCE3E18F2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1" y="1603758"/>
            <a:ext cx="260604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68979" y="1603758"/>
            <a:ext cx="260604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D25CAD-0352-CCC0-FE9A-E7A41C32F36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9" y="1603758"/>
            <a:ext cx="260604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C136F47-CF60-FC1C-7593-443C52CC41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47E5AE6F-1D23-C39A-0BC5-EA4DAFFA118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46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eft, 2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BCB7D9-3F24-2D0C-5B14-E2C661E639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899" y="1600200"/>
            <a:ext cx="4076699" cy="4571999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4729162" y="1600201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BA0E41E-3105-E87B-86FB-335AE6CDEF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2879B901-C4B0-6669-363D-59DB495E463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1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600201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E047D272-7ECD-D4E8-CDC0-843F7C25E4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FA9DBBEC-ECFA-EAB8-1C57-2AE6EA4A1CCD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25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43E1-016F-8660-8C89-216784824D95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729161" y="1600200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167271-1452-D6F8-26EF-765BA965DF5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1" y="1600200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D049ECBC-0FEF-5B2A-F9B0-F923F00862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92BAB9D8-048E-71A8-F0AE-259DCB44FFF7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1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EB14E-FB1A-5A77-053F-1CB654DF93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F54824-7D6D-C1BB-C460-51C0060667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C5930ECE-1F32-4728-A6D3-F081251855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DCF432EA-B806-403F-F134-B1628C5C020B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54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A77F1509-8373-AD4C-8701-4EEE52EDB5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1" y="0"/>
            <a:ext cx="9144001" cy="6858000"/>
          </a:xfrm>
        </p:spPr>
        <p:txBody>
          <a:bodyPr tIns="0" bIns="457200" anchor="ctr" anchorCtr="0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</p:spTree>
    <p:extLst>
      <p:ext uri="{BB962C8B-B14F-4D97-AF65-F5344CB8AC3E}">
        <p14:creationId xmlns:p14="http://schemas.microsoft.com/office/powerpoint/2010/main" val="4277462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Bulle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F6E3E-DA1E-FDA4-3C8D-729D5A950DE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2900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8F14AD0-0AB4-8C3C-C057-A6381C16C6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278981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2946247-8EF8-059C-F9FA-4D781E366D1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15063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7C80026-3287-52A3-7D9A-ED0D6863BB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95FF1DD-A64F-6D72-3BAD-01D6B53703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2CCB4726-7740-E933-0301-AF70612F94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82A49EC-AE61-E149-309E-6F2E6C3972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0" y="4332758"/>
            <a:ext cx="2581274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4A163A34-50AB-6E3C-1A0C-A0B1422E90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8980" y="433275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3D47D272-15F6-2D88-219C-8D0D332D36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15061" y="433275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4EE456A-0464-08EB-5DF9-4DC1C062C8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4F25F488-2945-A925-0FB8-E6A1532CBE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EE24CB7E-4F9A-FC34-F21B-41000393909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81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,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8907AA3-EDAD-E648-FE19-B1934241A88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23888" y="1600200"/>
            <a:ext cx="4076700" cy="45719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F5E636B-FCF8-03EE-3F8E-08F9F7EEAD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48466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7EDFDD0-588C-EEFD-B0DA-7E21A9A5F6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1600200"/>
            <a:ext cx="4419600" cy="4571999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C46C2718-4B29-9B40-3941-30F36DA1460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16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Top,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37C60E6-535A-4837-008C-B598669B1B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8F9BF1D6-22FB-9443-4711-854E4AB383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7589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0DF32265-57AD-8208-47CA-252793E3C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92975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1A902963-D34E-6501-980B-B310436886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9316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614FFD0D-7B35-C71B-382B-238D96B14B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3AC7837-AA70-8F6F-A895-871949E2BC9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429000"/>
            <a:ext cx="9143999" cy="3278605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9B9AEE86-87C1-D8BE-093F-36586F2C8849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747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op, 2x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E17DA7F-3873-5BB5-26FC-B16AC6E98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901" y="3718797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C71707D-D25D-5DD1-426D-EF007B9BB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1" y="4361443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2B6ACCE1-0B03-1758-4FE9-79A827F1CA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1" y="5004089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99F33AA-F9FD-5EC3-0E60-55BC4B9746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1" y="564673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3A966BA3-525E-C3E5-63B0-4DD3554CDE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718799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32C9C1D-160E-7674-5AD3-9CE0860259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00" y="436144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B808F57-8464-7FAB-CF5F-1824F840D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24400" y="5004091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14CA087-2073-BFA5-3564-957C8E33EE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00" y="564673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D40A90E7-3C4E-302E-A5C5-0370888B1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900" y="4471552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C2F56E8A-EEDB-9B22-8B7F-3D5033ADD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900" y="512378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75DF820-5F9D-18D7-646E-A25BF395D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900" y="576322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C9D17E8-A64D-90A7-4EE6-42C12747ED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24399" y="3832079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3C0A743-1E2B-3885-F1C6-4873019FB8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4399" y="448111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9EDBE334-D0BB-D79E-4900-E10924857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24399" y="5114157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AF4C8C-1092-A6E1-6F1C-91E5B46CE7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24399" y="5756794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6754652D-F1E7-C6A8-25E2-781116395C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3836358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FAF10D-2DDD-E93F-FAAC-2C7733E88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5015B0E-9440-9F92-4C33-E2F2F15A8B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72E4B93-709A-A8D2-D18F-8BE49EE89CB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42898" y="1600200"/>
            <a:ext cx="8458201" cy="1819049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814FD2FA-AE65-3792-DA3F-9F1661F8BD4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65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, 2x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81108" y="6356351"/>
            <a:ext cx="4076700" cy="2541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10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C93EC0A-38C8-966C-24B3-B29DC94B89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10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D447C-1E31-0C83-06F8-C10ED35AB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08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A341DCF-81D7-9D7E-9A14-142CCB95C3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9316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C71BCEBF-A2AA-40B1-4436-B560BC514202}"/>
              </a:ext>
            </a:extLst>
          </p:cNvPr>
          <p:cNvSpPr/>
          <p:nvPr userDrawn="1"/>
        </p:nvSpPr>
        <p:spPr>
          <a:xfrm rot="5400000">
            <a:off x="2821654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3BF694E-084D-2F4A-0ECA-7B0327933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81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D068186-E804-EDE9-FABD-5F4AB5B751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181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109" y="400246"/>
            <a:ext cx="4738393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BFFF3B6-42A3-4634-2C93-E3D900C551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81108" y="894534"/>
            <a:ext cx="5519992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2A94177-EE03-91EF-A2E3-86C891533DA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" y="0"/>
            <a:ext cx="2939950" cy="6707605"/>
          </a:xfrm>
        </p:spPr>
        <p:txBody>
          <a:bodyPr lIns="182880" tIns="0" rIns="18288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</p:spTree>
    <p:extLst>
      <p:ext uri="{BB962C8B-B14F-4D97-AF65-F5344CB8AC3E}">
        <p14:creationId xmlns:p14="http://schemas.microsoft.com/office/powerpoint/2010/main" val="2979749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Left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147" y="400246"/>
            <a:ext cx="4076700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8907AA3-EDAD-E648-FE19-B1934241A88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3144" y="1600200"/>
            <a:ext cx="4076700" cy="45719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2AF48C0-B9F3-9091-8EE5-3E459AFB90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40767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DDD1E4A-FFFE-4838-5949-6C06814DAC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24400" y="0"/>
            <a:ext cx="4419600" cy="6707605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AD237832-A78E-B5B9-D6A6-D99F14D345B9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79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8458200" cy="4278772"/>
          </a:xfrm>
        </p:spPr>
        <p:txBody>
          <a:bodyPr tIns="91440"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CCA5E-41B3-3854-B3A6-CDC66B1D7C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A53C26-5F71-A568-7A3A-BBED1D018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78B5EC4-88C2-9D90-40BC-FA6500F5A3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899" y="1599845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8A80CF5-57AF-5D3E-9FCA-97DFAEE51E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C317B1A4-5130-D4D7-ECEE-56F44B80CABC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25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4076700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4398" y="1893427"/>
            <a:ext cx="4076700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3B320D-EF95-F993-4F29-40327C88FA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A02D19-9736-BEEB-453A-00DDA54ED6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4398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67D886F-3CA4-A749-4576-0381F15756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1A54A5A1-909A-9BB0-A0C1-59E6C4F40C4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43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1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893427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9DCC026-E71A-1FDB-04F3-953E25A9D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899" y="1599845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EBCD631-C3BE-2533-D549-39524D82D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4012177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A6DA6A-0733-519C-ED00-1B4CF7AC73D3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0" y="4317790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E5BCAA1-DF32-A546-4D6C-F13A45E725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5900537D-86A5-16B7-E90E-09FBD0B3D36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95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, 2/3 and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5532120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87F8FB2-21A0-435A-02BD-7ACA54B334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553212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8A0CEB-6E5D-3516-1B98-4AB7195CC9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5059" y="1599845"/>
            <a:ext cx="2606041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A339B63-3ED6-8000-4AD8-FBDF043B5DDA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9" y="1893427"/>
            <a:ext cx="2606041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65E167D-B37A-8567-7893-BF16C57425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29A4C250-D507-5A29-D584-C0836C43A4C4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906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2606039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68977" y="1893427"/>
            <a:ext cx="2606039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D25CAD-0352-CCC0-FE9A-E7A41C32F36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2" y="1893427"/>
            <a:ext cx="2606047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6FA517-CE59-4D5A-5261-54B2A1927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5052" y="1599845"/>
            <a:ext cx="2606048" cy="293582"/>
          </a:xfrm>
          <a:solidFill>
            <a:schemeClr val="tx1"/>
          </a:solidFill>
        </p:spPr>
        <p:txBody>
          <a:bodyPr lIns="182880" tIns="0" rIns="182880" bIns="0" anchor="ctr" anchorCtr="0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EA8AEC7-959A-5882-ECEE-F70E310367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8968" y="1599845"/>
            <a:ext cx="2606048" cy="293582"/>
          </a:xfrm>
          <a:solidFill>
            <a:schemeClr val="tx1"/>
          </a:solidFill>
        </p:spPr>
        <p:txBody>
          <a:bodyPr lIns="182880" tIns="0" rIns="182880" bIns="0" anchor="ctr" anchorCtr="0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45282BA-26E1-FD17-44E9-4841BDB9A8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8" y="1599845"/>
            <a:ext cx="2606033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D779CD5-69E9-8150-E68C-8C65922EC2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132B273C-736C-8AF6-0317-634771AAD0BC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94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eft, 2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BCB7D9-3F24-2D0C-5B14-E2C661E639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899" y="1893427"/>
            <a:ext cx="4076699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4729162" y="1893427"/>
            <a:ext cx="4076699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A7AAD30-B920-C2A6-749B-B63B3DE0B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4401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3CD406C-1941-D36D-F90A-0B9BC05FEE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8890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EB2BFAE-A5DF-6CE4-B475-8183919B79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0CF5BF6-AA2E-2E44-6416-1787E7E319F9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4729162" y="4299743"/>
            <a:ext cx="4076699" cy="186305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A57BA420-AB7C-1DFB-8952-484B1191B0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29D368D9-B56B-7AD6-E37A-1B48DB678CF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97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893427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522F6E5-52A4-37C2-2AB8-DB6A264412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8139" y="1599845"/>
            <a:ext cx="8462961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F61B087-57F4-4DD6-67BF-71944C9171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C5D21AD-904F-7B54-D153-3A13324C42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9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6331712-F92E-BFE1-93DB-82A038AADAE9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886FAF-BD61-83AA-9736-AC936E31B44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5F8C9D39-3EED-FC26-63F0-2E46123601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CC931D47-E69F-8298-2B5D-EAC6092C104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55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43E1-016F-8660-8C89-216784824D95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729161" y="1898984"/>
            <a:ext cx="4076699" cy="184546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167271-1452-D6F8-26EF-765BA965DF5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1" y="1898984"/>
            <a:ext cx="4076699" cy="184546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AECD965-C8C2-B80D-A3FC-A3EE3B0DDE8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DB12071-FB11-4A53-64C1-111F7EF397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9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D630F721-6A44-49A7-EB45-7AE1135CF5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C7FE61D-BF43-F4A1-3DCE-9047354E9FA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24401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8382586-15FE-B0CA-7126-DE56380D61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2899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C87C76CB-0554-5FD9-6EF9-AB7BB7BD8DDF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273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hart/Image, Right 2 Row Highlight and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FAF10D-2DDD-E93F-FAAC-2C7733E88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2D93A8-80CA-1411-03C7-754E89EC3F3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37629" y="1893427"/>
            <a:ext cx="4081969" cy="4278772"/>
          </a:xfrm>
        </p:spPr>
        <p:txBody>
          <a:bodyPr tIns="91440"/>
          <a:lstStyle>
            <a:lvl1pPr marL="226314" indent="-171450"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 marL="2055114" indent="-171450"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CBB938-0F2F-1A45-BCD4-D91FFD1E0854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1893426"/>
            <a:ext cx="4076699" cy="1872457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2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 marL="2055114" indent="-171450"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Chart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515A3F6-FD37-6B10-D283-FB3A6A7BD5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3889" y="4021932"/>
            <a:ext cx="4076700" cy="2150267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Highlight or Callout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6CB6D91-3FEE-2AEE-AF24-B1A8B43709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C477621-7FC5-35ED-F369-369A7818EC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FA7580B-619A-C978-5C4C-85B5723279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23889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Chart Title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9F50F32C-C1A3-C39B-3621-6F186EBEA0D7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633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and person writing on notebooks&#10;&#10;Description automatically generated">
            <a:extLst>
              <a:ext uri="{FF2B5EF4-FFF2-40B4-BE49-F238E27FC236}">
                <a16:creationId xmlns:a16="http://schemas.microsoft.com/office/drawing/2014/main" id="{BF5DB005-09FA-AF09-7FD7-4FCC562B0C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4610" r="4610"/>
          <a:stretch/>
        </p:blipFill>
        <p:spPr>
          <a:xfrm>
            <a:off x="-1" y="0"/>
            <a:ext cx="9144002" cy="671512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1A1F7-0361-B17C-2E8E-02733B7E7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815651"/>
            <a:ext cx="2742327" cy="867930"/>
          </a:xfrm>
        </p:spPr>
        <p:txBody>
          <a:bodyPr anchor="ctr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1E7FE206-DA47-AD16-02B2-1432EEF2C695}"/>
              </a:ext>
            </a:extLst>
          </p:cNvPr>
          <p:cNvSpPr/>
          <p:nvPr userDrawn="1"/>
        </p:nvSpPr>
        <p:spPr>
          <a:xfrm rot="5400000">
            <a:off x="-118298" y="3153639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2D9DD36-AA55-134A-36FA-4576C474FE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00" y="1431758"/>
            <a:ext cx="4076700" cy="1687844"/>
          </a:xfrm>
          <a:solidFill>
            <a:schemeClr val="tx1"/>
          </a:solidFill>
        </p:spPr>
        <p:txBody>
          <a:bodyPr wrap="square" lIns="182880" tIns="548640" rIns="182880" bIns="182880" anchor="t" anchorCtr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E80500-D2A3-BAFF-2B6B-79FA02466A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1627018"/>
            <a:ext cx="4076699" cy="288925"/>
          </a:xfrm>
        </p:spPr>
        <p:txBody>
          <a:bodyPr lIns="182880" tIns="0" rIns="182880" bIns="0"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CEC28F2-85A6-5D33-F4CD-7213489260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3308684"/>
            <a:ext cx="4076700" cy="1687844"/>
          </a:xfrm>
          <a:solidFill>
            <a:schemeClr val="tx1"/>
          </a:solidFill>
        </p:spPr>
        <p:txBody>
          <a:bodyPr wrap="square" lIns="182880" tIns="548640" rIns="182880" bIns="182880" anchor="t" anchorCtr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1F2931C-E831-51BB-C5C4-C6901682C2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503944"/>
            <a:ext cx="4076699" cy="288925"/>
          </a:xfrm>
        </p:spPr>
        <p:txBody>
          <a:bodyPr lIns="182880" tIns="0" rIns="182880" bIns="0"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</p:spTree>
    <p:extLst>
      <p:ext uri="{BB962C8B-B14F-4D97-AF65-F5344CB8AC3E}">
        <p14:creationId xmlns:p14="http://schemas.microsoft.com/office/powerpoint/2010/main" val="12886947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computer on a desk&#10;&#10;Description automatically generated">
            <a:extLst>
              <a:ext uri="{FF2B5EF4-FFF2-40B4-BE49-F238E27FC236}">
                <a16:creationId xmlns:a16="http://schemas.microsoft.com/office/drawing/2014/main" id="{19C1B115-5B4A-29AE-304D-9D9C8E9849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r="9091"/>
          <a:stretch/>
        </p:blipFill>
        <p:spPr>
          <a:xfrm>
            <a:off x="-2" y="-1"/>
            <a:ext cx="9144002" cy="67056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815651"/>
            <a:ext cx="2742327" cy="867930"/>
          </a:xfrm>
        </p:spPr>
        <p:txBody>
          <a:bodyPr anchor="ctr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322CC90-EBBB-F0C4-C321-172E4E52104C}"/>
              </a:ext>
            </a:extLst>
          </p:cNvPr>
          <p:cNvSpPr/>
          <p:nvPr userDrawn="1"/>
        </p:nvSpPr>
        <p:spPr>
          <a:xfrm rot="5400000">
            <a:off x="-118298" y="3153639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E17DA7F-3873-5BB5-26FC-B16AC6E98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113260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C71707D-D25D-5DD1-426D-EF007B9BB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00" y="1775248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2B6ACCE1-0B03-1758-4FE9-79A827F1CA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2417894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99F33AA-F9FD-5EC3-0E60-55BC4B9746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3060540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3A966BA3-525E-C3E5-63B0-4DD3554CDE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703186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32C9C1D-160E-7674-5AD3-9CE0860259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00" y="434583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B808F57-8464-7FAB-CF5F-1824F840D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24400" y="4988478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14CA087-2073-BFA5-3564-957C8E33EE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00" y="563112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D40A90E7-3C4E-302E-A5C5-0370888B1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4399" y="1900970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C2F56E8A-EEDB-9B22-8B7F-3D5033ADD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4399" y="255319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75DF820-5F9D-18D7-646E-A25BF395D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24399" y="319263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C9D17E8-A64D-90A7-4EE6-42C12747ED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24399" y="383207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3C0A743-1E2B-3885-F1C6-4873019FB8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4399" y="4481111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9EDBE334-D0BB-D79E-4900-E10924857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24399" y="5114157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AF4C8C-1092-A6E1-6F1C-91E5B46CE7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24399" y="5756794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6754652D-F1E7-C6A8-25E2-781116395C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24399" y="1265776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775779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8458200" cy="369332"/>
          </a:xfrm>
          <a:prstGeom prst="rect">
            <a:avLst/>
          </a:prstGeom>
        </p:spPr>
        <p:txBody>
          <a:bodyPr vert="horz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57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16">
          <p15:clr>
            <a:srgbClr val="F26B43"/>
          </p15:clr>
        </p15:guide>
        <p15:guide id="4" pos="5544">
          <p15:clr>
            <a:srgbClr val="F26B43"/>
          </p15:clr>
        </p15:guide>
        <p15:guide id="6" orient="horz" pos="38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899" y="398254"/>
            <a:ext cx="7676603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38E8D05-C7FA-E4EA-817A-FA9E15C711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7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71" r:id="rId2"/>
    <p:sldLayoutId id="2147483747" r:id="rId3"/>
    <p:sldLayoutId id="2147483748" r:id="rId4"/>
    <p:sldLayoutId id="2147483749" r:id="rId5"/>
    <p:sldLayoutId id="2147483750" r:id="rId6"/>
    <p:sldLayoutId id="2147483760" r:id="rId7"/>
    <p:sldLayoutId id="2147483751" r:id="rId8"/>
    <p:sldLayoutId id="2147483762" r:id="rId9"/>
    <p:sldLayoutId id="2147483752" r:id="rId10"/>
    <p:sldLayoutId id="2147483753" r:id="rId11"/>
    <p:sldLayoutId id="2147483761" r:id="rId12"/>
    <p:sldLayoutId id="2147483754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>
          <p15:clr>
            <a:srgbClr val="F26B43"/>
          </p15:clr>
        </p15:guide>
        <p15:guide id="3" pos="216">
          <p15:clr>
            <a:srgbClr val="F26B43"/>
          </p15:clr>
        </p15:guide>
        <p15:guide id="4" pos="5544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7676602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6E70ED-A6FA-05B1-8A3F-DD03120089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3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03" r:id="rId2"/>
    <p:sldLayoutId id="2147483722" r:id="rId3"/>
    <p:sldLayoutId id="2147483702" r:id="rId4"/>
    <p:sldLayoutId id="2147483705" r:id="rId5"/>
    <p:sldLayoutId id="2147483706" r:id="rId6"/>
    <p:sldLayoutId id="2147483723" r:id="rId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 userDrawn="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7676602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8B3E17B-47CA-309F-BCF1-E47000A2E6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0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34" r:id="rId9"/>
    <p:sldLayoutId id="2147483737" r:id="rId10"/>
    <p:sldLayoutId id="2147483738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AC5406-A67A-E6E4-C4E4-B3319C78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55646"/>
            <a:ext cx="7676602" cy="313932"/>
          </a:xfrm>
        </p:spPr>
        <p:txBody>
          <a:bodyPr/>
          <a:lstStyle/>
          <a:p>
            <a:r>
              <a:rPr lang="en-US" sz="1600" dirty="0"/>
              <a:t>Asset Management Bridge Overview – Access IT Properties, LLC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76FBE7-81BB-23E3-709B-5C3822F454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Asset Management review for current Bridge loans: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1682733-38AA-E23E-5F51-32E191796A9E}"/>
              </a:ext>
            </a:extLst>
          </p:cNvPr>
          <p:cNvSpPr txBox="1">
            <a:spLocks/>
          </p:cNvSpPr>
          <p:nvPr/>
        </p:nvSpPr>
        <p:spPr>
          <a:xfrm>
            <a:off x="342897" y="2301893"/>
            <a:ext cx="8458200" cy="457199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System Font Regular"/>
              <a:buChar char="–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54864" indent="0">
              <a:buFont typeface="Arial" panose="020B0604020202020204" pitchFamily="34" charset="0"/>
              <a:buNone/>
            </a:pP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088718B3-4FAD-B30A-1CE9-1C18F35B79F8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342897" y="3009561"/>
            <a:ext cx="4013320" cy="52077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System Font Regular"/>
              <a:buChar char="–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173736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864" indent="0">
              <a:buFont typeface="Arial" panose="020B0604020202020204" pitchFamily="34" charset="0"/>
              <a:buNone/>
            </a:pPr>
            <a:r>
              <a:rPr lang="en-US" b="1" dirty="0"/>
              <a:t>Bridge Performance Summary </a:t>
            </a:r>
          </a:p>
          <a:p>
            <a:r>
              <a:rPr lang="en-US" dirty="0"/>
              <a:t>Sponsor has a consistently strong payment history</a:t>
            </a:r>
          </a:p>
          <a:p>
            <a:r>
              <a:rPr lang="en-US" dirty="0"/>
              <a:t>Bridge loan is performing as expected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FE3DBD-DBF0-1839-A96A-FE3F75187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216618"/>
              </p:ext>
            </p:extLst>
          </p:nvPr>
        </p:nvGraphicFramePr>
        <p:xfrm>
          <a:off x="342897" y="1459124"/>
          <a:ext cx="8458200" cy="627708"/>
        </p:xfrm>
        <a:graphic>
          <a:graphicData uri="http://schemas.openxmlformats.org/drawingml/2006/table">
            <a:tbl>
              <a:tblPr/>
              <a:tblGrid>
                <a:gridCol w="527675">
                  <a:extLst>
                    <a:ext uri="{9D8B030D-6E8A-4147-A177-3AD203B41FA5}">
                      <a16:colId xmlns:a16="http://schemas.microsoft.com/office/drawing/2014/main" val="589856444"/>
                    </a:ext>
                  </a:extLst>
                </a:gridCol>
                <a:gridCol w="400570">
                  <a:extLst>
                    <a:ext uri="{9D8B030D-6E8A-4147-A177-3AD203B41FA5}">
                      <a16:colId xmlns:a16="http://schemas.microsoft.com/office/drawing/2014/main" val="57298327"/>
                    </a:ext>
                  </a:extLst>
                </a:gridCol>
                <a:gridCol w="924393">
                  <a:extLst>
                    <a:ext uri="{9D8B030D-6E8A-4147-A177-3AD203B41FA5}">
                      <a16:colId xmlns:a16="http://schemas.microsoft.com/office/drawing/2014/main" val="927438804"/>
                    </a:ext>
                  </a:extLst>
                </a:gridCol>
                <a:gridCol w="774180">
                  <a:extLst>
                    <a:ext uri="{9D8B030D-6E8A-4147-A177-3AD203B41FA5}">
                      <a16:colId xmlns:a16="http://schemas.microsoft.com/office/drawing/2014/main" val="1810465263"/>
                    </a:ext>
                  </a:extLst>
                </a:gridCol>
                <a:gridCol w="442939">
                  <a:extLst>
                    <a:ext uri="{9D8B030D-6E8A-4147-A177-3AD203B41FA5}">
                      <a16:colId xmlns:a16="http://schemas.microsoft.com/office/drawing/2014/main" val="978403249"/>
                    </a:ext>
                  </a:extLst>
                </a:gridCol>
                <a:gridCol w="681740">
                  <a:extLst>
                    <a:ext uri="{9D8B030D-6E8A-4147-A177-3AD203B41FA5}">
                      <a16:colId xmlns:a16="http://schemas.microsoft.com/office/drawing/2014/main" val="2560129243"/>
                    </a:ext>
                  </a:extLst>
                </a:gridCol>
                <a:gridCol w="543081">
                  <a:extLst>
                    <a:ext uri="{9D8B030D-6E8A-4147-A177-3AD203B41FA5}">
                      <a16:colId xmlns:a16="http://schemas.microsoft.com/office/drawing/2014/main" val="1795415993"/>
                    </a:ext>
                  </a:extLst>
                </a:gridCol>
                <a:gridCol w="419829">
                  <a:extLst>
                    <a:ext uri="{9D8B030D-6E8A-4147-A177-3AD203B41FA5}">
                      <a16:colId xmlns:a16="http://schemas.microsoft.com/office/drawing/2014/main" val="2997898005"/>
                    </a:ext>
                  </a:extLst>
                </a:gridCol>
                <a:gridCol w="485307">
                  <a:extLst>
                    <a:ext uri="{9D8B030D-6E8A-4147-A177-3AD203B41FA5}">
                      <a16:colId xmlns:a16="http://schemas.microsoft.com/office/drawing/2014/main" val="192872788"/>
                    </a:ext>
                  </a:extLst>
                </a:gridCol>
                <a:gridCol w="392867">
                  <a:extLst>
                    <a:ext uri="{9D8B030D-6E8A-4147-A177-3AD203B41FA5}">
                      <a16:colId xmlns:a16="http://schemas.microsoft.com/office/drawing/2014/main" val="1538566658"/>
                    </a:ext>
                  </a:extLst>
                </a:gridCol>
                <a:gridCol w="350499">
                  <a:extLst>
                    <a:ext uri="{9D8B030D-6E8A-4147-A177-3AD203B41FA5}">
                      <a16:colId xmlns:a16="http://schemas.microsoft.com/office/drawing/2014/main" val="1384083657"/>
                    </a:ext>
                  </a:extLst>
                </a:gridCol>
                <a:gridCol w="585449">
                  <a:extLst>
                    <a:ext uri="{9D8B030D-6E8A-4147-A177-3AD203B41FA5}">
                      <a16:colId xmlns:a16="http://schemas.microsoft.com/office/drawing/2014/main" val="2794980191"/>
                    </a:ext>
                  </a:extLst>
                </a:gridCol>
                <a:gridCol w="689443">
                  <a:extLst>
                    <a:ext uri="{9D8B030D-6E8A-4147-A177-3AD203B41FA5}">
                      <a16:colId xmlns:a16="http://schemas.microsoft.com/office/drawing/2014/main" val="2033406010"/>
                    </a:ext>
                  </a:extLst>
                </a:gridCol>
                <a:gridCol w="527675">
                  <a:extLst>
                    <a:ext uri="{9D8B030D-6E8A-4147-A177-3AD203B41FA5}">
                      <a16:colId xmlns:a16="http://schemas.microsoft.com/office/drawing/2014/main" val="3562501166"/>
                    </a:ext>
                  </a:extLst>
                </a:gridCol>
                <a:gridCol w="342796">
                  <a:extLst>
                    <a:ext uri="{9D8B030D-6E8A-4147-A177-3AD203B41FA5}">
                      <a16:colId xmlns:a16="http://schemas.microsoft.com/office/drawing/2014/main" val="2010532111"/>
                    </a:ext>
                  </a:extLst>
                </a:gridCol>
                <a:gridCol w="369757">
                  <a:extLst>
                    <a:ext uri="{9D8B030D-6E8A-4147-A177-3AD203B41FA5}">
                      <a16:colId xmlns:a16="http://schemas.microsoft.com/office/drawing/2014/main" val="1459227094"/>
                    </a:ext>
                  </a:extLst>
                </a:gridCol>
              </a:tblGrid>
              <a:tr h="20798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Portfolio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Loan 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Commitment Amount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Origination 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Line Maturity 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Advances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Funded Assets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State(s)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Lifetime Funded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Paid Off Assets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Active Assets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Outstanding Balance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As-Is/ ARV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AVG Hold Time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AVG Disposed Time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478979"/>
                  </a:ext>
                </a:extLst>
              </a:tr>
              <a:tr h="2339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Bridge Loan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59304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Boyum LOC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$6,000,000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8/21/2025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8/18/2027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$4,100,500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$4,100,500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$6,612,000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57859"/>
                  </a:ext>
                </a:extLst>
              </a:tr>
              <a:tr h="119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$6,000,000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$4,100,500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$4,100,500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762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633879"/>
      </p:ext>
    </p:extLst>
  </p:cSld>
  <p:clrMapOvr>
    <a:masterClrMapping/>
  </p:clrMapOvr>
</p:sld>
</file>

<file path=ppt/theme/theme1.xml><?xml version="1.0" encoding="utf-8"?>
<a:theme xmlns:a="http://schemas.openxmlformats.org/drawingml/2006/main" name="Front and End Cover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Template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plates with Image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plates with Block Heading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4F1746A5922E4989AA062BB66A691D" ma:contentTypeVersion="14" ma:contentTypeDescription="Create a new document." ma:contentTypeScope="" ma:versionID="f96aa4208e3cfd5a46794d184b199dc3">
  <xsd:schema xmlns:xsd="http://www.w3.org/2001/XMLSchema" xmlns:xs="http://www.w3.org/2001/XMLSchema" xmlns:p="http://schemas.microsoft.com/office/2006/metadata/properties" xmlns:ns2="6bee2d50-2722-4cb1-ab38-918527773aee" xmlns:ns3="f139763d-bdd8-44b0-b584-0ede7dcf461b" targetNamespace="http://schemas.microsoft.com/office/2006/metadata/properties" ma:root="true" ma:fieldsID="2f449b53529fa57699457a65826553ea" ns2:_="" ns3:_="">
    <xsd:import namespace="6bee2d50-2722-4cb1-ab38-918527773aee"/>
    <xsd:import namespace="f139763d-bdd8-44b0-b584-0ede7dcf46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ee2d50-2722-4cb1-ab38-918527773a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03bed53-64db-43c6-8eeb-3d2b651cdb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9763d-bdd8-44b0-b584-0ede7dcf461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8340fd4-1964-46d1-8c4e-3a635fe154c5}" ma:internalName="TaxCatchAll" ma:showField="CatchAllData" ma:web="f139763d-bdd8-44b0-b584-0ede7dcf46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139763d-bdd8-44b0-b584-0ede7dcf461b" xsi:nil="true"/>
    <lcf76f155ced4ddcb4097134ff3c332f xmlns="6bee2d50-2722-4cb1-ab38-918527773ae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150912-82A1-4CDD-841E-9676282AA0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ee2d50-2722-4cb1-ab38-918527773aee"/>
    <ds:schemaRef ds:uri="f139763d-bdd8-44b0-b584-0ede7dcf46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E35AA8-EEE4-4DA6-8F2A-B540FAF1E95A}">
  <ds:schemaRefs>
    <ds:schemaRef ds:uri="http://schemas.microsoft.com/office/infopath/2007/PartnerControls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e143c16c-4dfe-43cc-891f-3ab8105776f5"/>
    <ds:schemaRef ds:uri="1ceb754c-61ec-4c32-895c-fef157e343a2"/>
    <ds:schemaRef ds:uri="http://purl.org/dc/elements/1.1/"/>
    <ds:schemaRef ds:uri="f139763d-bdd8-44b0-b584-0ede7dcf461b"/>
    <ds:schemaRef ds:uri="6bee2d50-2722-4cb1-ab38-918527773aee"/>
  </ds:schemaRefs>
</ds:datastoreItem>
</file>

<file path=customXml/itemProps3.xml><?xml version="1.0" encoding="utf-8"?>
<ds:datastoreItem xmlns:ds="http://schemas.openxmlformats.org/officeDocument/2006/customXml" ds:itemID="{8289B52C-553D-482C-9955-544BEC5B35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7168</TotalTime>
  <Words>112</Words>
  <Application>Microsoft Office PowerPoint</Application>
  <PresentationFormat>On-screen Show (4:3)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System Font Regular</vt:lpstr>
      <vt:lpstr>Front and End Covers</vt:lpstr>
      <vt:lpstr>Basic Templates</vt:lpstr>
      <vt:lpstr>Templates with Images</vt:lpstr>
      <vt:lpstr>Templates with Block Headings</vt:lpstr>
      <vt:lpstr>Asset Management Bridge Overview – Access IT Properties, LLC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Wind</dc:creator>
  <cp:lastModifiedBy>Jonathan Smith</cp:lastModifiedBy>
  <cp:revision>807</cp:revision>
  <cp:lastPrinted>2023-07-27T16:04:27Z</cp:lastPrinted>
  <dcterms:created xsi:type="dcterms:W3CDTF">2020-10-28T17:33:04Z</dcterms:created>
  <dcterms:modified xsi:type="dcterms:W3CDTF">2026-09-01T15:02:52Z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0x0101007A4F1746A5922E4989AA062BB66A691D</vt:lpwstr>
  </property>
  <property fmtid="{D5CDD505-2E9C-101B-9397-08002B2CF9AE}" pid="3" name="MediaServiceImageTags">
    <vt:lpwstr/>
  </property>
</Properties>
</file>